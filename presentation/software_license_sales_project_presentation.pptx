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B7C9"/>
          </a:solidFill>
          <a:ln w="12700">
            <a:solidFill>
              <a:srgbClr val="1FB7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LICENSE SALES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287000" y="647395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3"/>
          </a:solidFill>
          <a:ln w="12700">
            <a:solidFill>
              <a:srgbClr val="0E24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1005840"/>
            <a:ext cx="4114800" cy="4114800"/>
          </a:xfrm>
          <a:prstGeom prst="ellipse">
            <a:avLst/>
          </a:prstGeom>
          <a:solidFill>
            <a:srgbClr val="1F6D7B">
              <a:alpha val="82000"/>
            </a:srgbClr>
          </a:solidFill>
          <a:ln w="12700">
            <a:solidFill>
              <a:srgbClr val="1F6D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3566160"/>
            <a:ext cx="3017520" cy="3017520"/>
          </a:xfrm>
          <a:prstGeom prst="ellipse">
            <a:avLst/>
          </a:prstGeom>
          <a:solidFill>
            <a:srgbClr val="31C5F4">
              <a:alpha val="65000"/>
            </a:srgbClr>
          </a:solidFill>
          <a:ln w="12700">
            <a:solidFill>
              <a:srgbClr val="31C5F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713232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1F6D7B"/>
          </a:solidFill>
          <a:ln w="12700">
            <a:solidFill>
              <a:srgbClr val="1F6D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777240"/>
            <a:ext cx="23225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END-TO-END ANALYTICS PORTFOLIO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License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Analytics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2953512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CEAF2"/>
                </a:solidFill>
              </a:rPr>
              <a:t>Python → PostgreSQL → dbt → Power BI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493008"/>
            <a:ext cx="6583680" cy="96012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F5F7"/>
                </a:solidFill>
              </a:rPr>
              <a:t>A business-facing analytics project that cleans raw license-sales data, tests data quality, builds a star schema, and answers revenue, subscription, pipeline, sales-rep and customer questions.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489204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465A4"/>
          </a:solidFill>
          <a:ln w="12700">
            <a:solidFill>
              <a:srgbClr val="3465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956048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0552" y="489204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03704" y="4956048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47872" y="489204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F694B"/>
          </a:solidFill>
          <a:ln w="12700">
            <a:solidFill>
              <a:srgbClr val="FF69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1024" y="4956048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dbt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5192" y="489204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6B800"/>
          </a:solidFill>
          <a:ln w="12700">
            <a:solidFill>
              <a:srgbClr val="E6B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38344" y="4956048"/>
            <a:ext cx="10881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 BI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5989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CBD3"/>
                </a:solidFill>
              </a:rPr>
              <a:t>Portfolio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 &amp; questions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A"/>
                </a:solidFill>
              </a:rPr>
              <a:t>Turn fragmented operational data into trusted, decision-ready reporting.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697A"/>
                </a:solidFill>
              </a:rPr>
              <a:t>BUSINESS QUESTIONS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764792"/>
            <a:ext cx="411480" cy="411480"/>
          </a:xfrm>
          <a:prstGeom prst="ellipse">
            <a:avLst/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3794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737360"/>
            <a:ext cx="47548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4752" y="1892808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How is net revenue trending, and which products or editions drive it?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2679192"/>
            <a:ext cx="411480" cy="4114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75234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34440" y="2651760"/>
            <a:ext cx="47548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4752" y="2807208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What is the health of the subscription base: active, expired, cancelled and trial?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593592"/>
            <a:ext cx="411480" cy="411480"/>
          </a:xfrm>
          <a:prstGeom prst="ellipse">
            <a:avLst/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66674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34440" y="3566160"/>
            <a:ext cx="47548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4752" y="3721608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Where is the sales pipeline concentrated, and which reps / accounts need attention?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507992"/>
            <a:ext cx="411480" cy="4114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58114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34440" y="4480560"/>
            <a:ext cx="47548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4752" y="4636008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Can management trust the data enough to act on it?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13716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697A"/>
                </a:solidFill>
              </a:rPr>
              <a:t>DELIVERABLE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173736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EAF7FA"/>
          </a:solidFill>
          <a:ln w="12700">
            <a:solidFill>
              <a:srgbClr val="BEE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0574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697A"/>
                </a:solidFill>
              </a:rPr>
              <a:t>Trusted analytics pipeline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6812280" y="2651760"/>
            <a:ext cx="4160520" cy="23774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Reusable Python ingestion into PostgreSQL raw tables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dbt staging models for cleaning and standardisation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Data tests that expose duplicates, invalid references and rule violations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Business-ready marts in a star schema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Two Power BI pages focused on revenue/subscriptions and sales/customers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Documented recommendations for management action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A"/>
                </a:solidFill>
              </a:rPr>
              <a:t>Clear separation between ingestion, data quality, business modelling and reporting.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8EEF4"/>
          </a:solidFill>
          <a:ln w="15240">
            <a:solidFill>
              <a:srgbClr val="B9C7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286000"/>
            <a:ext cx="11978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CSV files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12648" y="2715768"/>
            <a:ext cx="11978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6 raw sources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2624328"/>
            <a:ext cx="173736" cy="0"/>
          </a:xfrm>
          <a:prstGeom prst="line">
            <a:avLst/>
          </a:prstGeom>
          <a:noFill/>
          <a:ln w="27940">
            <a:solidFill>
              <a:srgbClr val="16697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8840" y="205740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E8F1FB"/>
          </a:solidFill>
          <a:ln w="15240">
            <a:solidFill>
              <a:srgbClr val="B6D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58568" y="2286000"/>
            <a:ext cx="12893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Python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258568" y="2715768"/>
            <a:ext cx="12893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ingest_data.py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2624328"/>
            <a:ext cx="219456" cy="0"/>
          </a:xfrm>
          <a:prstGeom prst="line">
            <a:avLst/>
          </a:prstGeom>
          <a:noFill/>
          <a:ln w="27940">
            <a:solidFill>
              <a:srgbClr val="1669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31920" y="205740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EAF0F8"/>
          </a:solidFill>
          <a:ln w="15240">
            <a:solidFill>
              <a:srgbClr val="B9CB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41648" y="2286000"/>
            <a:ext cx="14264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PostgreSQL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41648" y="2715768"/>
            <a:ext cx="14264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raw schema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2624328"/>
            <a:ext cx="219456" cy="0"/>
          </a:xfrm>
          <a:prstGeom prst="line">
            <a:avLst/>
          </a:prstGeom>
          <a:noFill/>
          <a:ln w="27940">
            <a:solidFill>
              <a:srgbClr val="16697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52160" y="205740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FFF1EC"/>
          </a:solidFill>
          <a:ln w="15240">
            <a:solidFill>
              <a:srgbClr val="FFD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1888" y="2286000"/>
            <a:ext cx="138074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dbt staging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61888" y="2715768"/>
            <a:ext cx="13807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6 cleaned models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52360" y="2624328"/>
            <a:ext cx="219456" cy="0"/>
          </a:xfrm>
          <a:prstGeom prst="line">
            <a:avLst/>
          </a:prstGeom>
          <a:noFill/>
          <a:ln w="27940">
            <a:solidFill>
              <a:srgbClr val="16697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26680" y="205740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2EEFF"/>
          </a:solidFill>
          <a:ln w="15240">
            <a:solidFill>
              <a:srgbClr val="D7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6408" y="2286000"/>
            <a:ext cx="128930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dbt tests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36408" y="2715768"/>
            <a:ext cx="12893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36 data tests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35440" y="2624328"/>
            <a:ext cx="219456" cy="0"/>
          </a:xfrm>
          <a:prstGeom prst="line">
            <a:avLst/>
          </a:prstGeom>
          <a:noFill/>
          <a:ln w="27940">
            <a:solidFill>
              <a:srgbClr val="16697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09760" y="205740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EAF9F1"/>
          </a:solidFill>
          <a:ln w="15240">
            <a:solidFill>
              <a:srgbClr val="BFE7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19488" y="2286000"/>
            <a:ext cx="142646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213D"/>
                </a:solidFill>
              </a:rPr>
              <a:t>dbt marts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619488" y="2715768"/>
            <a:ext cx="14264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7 star-schema tables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94760" y="4251960"/>
            <a:ext cx="4617720" cy="1097280"/>
          </a:xfrm>
          <a:prstGeom prst="roundRect">
            <a:avLst>
              <a:gd name="adj" fmla="val 6667"/>
            </a:avLst>
          </a:prstGeom>
          <a:solidFill>
            <a:srgbClr val="FFF8D8"/>
          </a:solidFill>
          <a:ln w="17780">
            <a:solidFill>
              <a:srgbClr val="F3D6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4443984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A6200"/>
                </a:solidFill>
              </a:rPr>
              <a:t>Power BI semantic model &amp; dashboards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069080" y="4846320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200"/>
                </a:solidFill>
              </a:rPr>
              <a:t>Relationships + DAX measures + interactive business analysis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H="1">
            <a:off x="5962015" y="3703320"/>
            <a:ext cx="12700" cy="523875"/>
          </a:xfrm>
          <a:prstGeom prst="line">
            <a:avLst/>
          </a:prstGeom>
          <a:noFill/>
          <a:ln w="27940">
            <a:solidFill>
              <a:srgbClr val="C79D00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697A"/>
                </a:solidFill>
              </a:rPr>
              <a:t>Key design choice: transformations live in dbt; Power BI is primarily the semantic + visual layer.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Business-ready star schema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A"/>
                </a:solidFill>
              </a:rPr>
              <a:t>Dimensions describe the business; fact tables store measurable events.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697A"/>
                </a:solidFill>
              </a:rPr>
              <a:t>MODEL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EAF7FA"/>
          </a:solidFill>
          <a:ln w="15240">
            <a:solidFill>
              <a:srgbClr val="A7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11680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dim_customers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EAF7FA"/>
          </a:solidFill>
          <a:ln w="15240">
            <a:solidFill>
              <a:srgbClr val="A7D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63240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dim_products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EAF7FA"/>
          </a:solidFill>
          <a:ln w="15240">
            <a:solidFill>
              <a:srgbClr val="A7D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114800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dim_sales_reps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2011680" cy="640080"/>
          </a:xfrm>
          <a:prstGeom prst="roundRect">
            <a:avLst>
              <a:gd name="adj" fmla="val 7143"/>
            </a:avLst>
          </a:prstGeom>
          <a:solidFill>
            <a:srgbClr val="EAF7FA"/>
          </a:solidFill>
          <a:ln w="15240">
            <a:solidFill>
              <a:srgbClr val="A7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5166360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dim_date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20440" y="1828800"/>
            <a:ext cx="2057400" cy="731520"/>
          </a:xfrm>
          <a:prstGeom prst="roundRect">
            <a:avLst>
              <a:gd name="adj" fmla="val 6250"/>
            </a:avLst>
          </a:prstGeom>
          <a:solidFill>
            <a:srgbClr val="FFF1EC"/>
          </a:solidFill>
          <a:ln w="15240">
            <a:solidFill>
              <a:srgbClr val="FFC8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011680"/>
            <a:ext cx="19110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fct_invoices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20440" y="3154680"/>
            <a:ext cx="2057400" cy="731520"/>
          </a:xfrm>
          <a:prstGeom prst="roundRect">
            <a:avLst>
              <a:gd name="adj" fmla="val 6250"/>
            </a:avLst>
          </a:prstGeom>
          <a:solidFill>
            <a:srgbClr val="FFF1EC"/>
          </a:solidFill>
          <a:ln w="15240">
            <a:solidFill>
              <a:srgbClr val="FFC8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3337560"/>
            <a:ext cx="19110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fct_subscriptions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20440" y="4480560"/>
            <a:ext cx="2057400" cy="731520"/>
          </a:xfrm>
          <a:prstGeom prst="roundRect">
            <a:avLst>
              <a:gd name="adj" fmla="val 6250"/>
            </a:avLst>
          </a:prstGeom>
          <a:solidFill>
            <a:srgbClr val="FFF1EC"/>
          </a:solidFill>
          <a:ln w="15240">
            <a:solidFill>
              <a:srgbClr val="FFC8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4663440"/>
            <a:ext cx="19110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fct_opportunities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51760" y="2148840"/>
            <a:ext cx="868680" cy="45720"/>
          </a:xfrm>
          <a:prstGeom prst="line">
            <a:avLst/>
          </a:prstGeom>
          <a:noFill/>
          <a:ln w="17780">
            <a:solidFill>
              <a:srgbClr val="9AB7C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651760" y="2331720"/>
            <a:ext cx="868680" cy="868680"/>
          </a:xfrm>
          <a:prstGeom prst="line">
            <a:avLst/>
          </a:prstGeom>
          <a:noFill/>
          <a:ln w="17780">
            <a:solidFill>
              <a:srgbClr val="9AB7C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651760" y="2148840"/>
            <a:ext cx="868680" cy="1371600"/>
          </a:xfrm>
          <a:prstGeom prst="line">
            <a:avLst/>
          </a:prstGeom>
          <a:noFill/>
          <a:ln w="17780">
            <a:solidFill>
              <a:srgbClr val="9AB7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651760" y="3200400"/>
            <a:ext cx="868680" cy="320040"/>
          </a:xfrm>
          <a:prstGeom prst="line">
            <a:avLst/>
          </a:prstGeom>
          <a:noFill/>
          <a:ln w="17780">
            <a:solidFill>
              <a:srgbClr val="9AB7C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651760" y="4251960"/>
            <a:ext cx="868680" cy="594360"/>
          </a:xfrm>
          <a:prstGeom prst="line">
            <a:avLst/>
          </a:prstGeom>
          <a:noFill/>
          <a:ln w="17780">
            <a:solidFill>
              <a:srgbClr val="9AB7C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651760" y="2377440"/>
            <a:ext cx="868680" cy="2926080"/>
          </a:xfrm>
          <a:prstGeom prst="line">
            <a:avLst/>
          </a:prstGeom>
          <a:noFill/>
          <a:ln w="17780">
            <a:solidFill>
              <a:srgbClr val="9AB7C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51760" y="3611880"/>
            <a:ext cx="868680" cy="1691640"/>
          </a:xfrm>
          <a:prstGeom prst="line">
            <a:avLst/>
          </a:prstGeom>
          <a:noFill/>
          <a:ln w="17780">
            <a:solidFill>
              <a:srgbClr val="9AB7C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651760" y="4846320"/>
            <a:ext cx="868680" cy="457200"/>
          </a:xfrm>
          <a:prstGeom prst="line">
            <a:avLst/>
          </a:prstGeom>
          <a:noFill/>
          <a:ln w="17780">
            <a:solidFill>
              <a:srgbClr val="9AB7C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651760" y="2148840"/>
            <a:ext cx="868680" cy="2560320"/>
          </a:xfrm>
          <a:prstGeom prst="line">
            <a:avLst/>
          </a:prstGeom>
          <a:noFill/>
          <a:ln w="17780">
            <a:solidFill>
              <a:srgbClr val="9AB7C5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22960" y="598932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A"/>
                </a:solidFill>
              </a:rPr>
              <a:t>1 → * single-direction filtering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13258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697A"/>
                </a:solidFill>
              </a:rPr>
              <a:t>POWER BI RELATIONSHIPS</a:t>
            </a:r>
            <a:endParaRPr lang="en-US" sz="1000" dirty="0"/>
          </a:p>
        </p:txBody>
      </p:sp>
      <p:pic>
        <p:nvPicPr>
          <p:cNvPr id="30" name="Image 0" descr="/mnt/data/presentation_assets/relationship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91640"/>
            <a:ext cx="5440680" cy="406908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144768" y="5852160"/>
            <a:ext cx="5029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Fact-to-fact relationship removed; dimensions filter facts to keep the model predictable and easy to analyse.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dbt testing turned data problems into explicit rules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A"/>
                </a:solidFill>
              </a:rPr>
              <a:t>The pipeline does not silently hide quality issues.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697A"/>
                </a:solidFill>
              </a:rPr>
              <a:t>EXAMPLES OF TEST-DRIVEN CLEANING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669280" cy="658368"/>
          </a:xfrm>
          <a:prstGeom prst="roundRect">
            <a:avLst>
              <a:gd name="adj" fmla="val 5556"/>
            </a:avLst>
          </a:prstGeom>
          <a:solidFill>
            <a:srgbClr val="EEF6F8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Duplicate customers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856232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6A76"/>
                </a:solidFill>
              </a:rPr>
              <a:t>3 duplicate customer IDs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83794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Deduplicated in staging; uniqueness test passed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487168"/>
            <a:ext cx="5669280" cy="65836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06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Negative invoice amounts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6A76"/>
                </a:solidFill>
              </a:rPr>
              <a:t>27 negative values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2587752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Normalised with ABS(); custom test passed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236976"/>
            <a:ext cx="5669280" cy="658368"/>
          </a:xfrm>
          <a:prstGeom prst="roundRect">
            <a:avLst>
              <a:gd name="adj" fmla="val 5556"/>
            </a:avLst>
          </a:prstGeom>
          <a:solidFill>
            <a:srgbClr val="EEF6F8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55848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Subscription date logic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355848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6A76"/>
                </a:solidFill>
              </a:rPr>
              <a:t>13 end dates before start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333756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Kept + flagged; custom test downgraded to warning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986784"/>
            <a:ext cx="5669280" cy="65836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05656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Missing / orphan references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410565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6A76"/>
                </a:solidFill>
              </a:rPr>
              <a:t>11 sales reps, 5 invoices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4087368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Kept + flagged so BI can exclude or surface them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4736592"/>
            <a:ext cx="5669280" cy="658368"/>
          </a:xfrm>
          <a:prstGeom prst="roundRect">
            <a:avLst>
              <a:gd name="adj" fmla="val 5556"/>
            </a:avLst>
          </a:prstGeom>
          <a:solidFill>
            <a:srgbClr val="EEF6F8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55464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Missing seats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4855464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6A76"/>
                </a:solidFill>
              </a:rPr>
              <a:t>7 subscriptions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4837176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A"/>
                </a:solidFill>
              </a:rPr>
              <a:t>Known source issue; warning rather than pipeline failure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0" y="132588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697A"/>
                </a:solidFill>
              </a:rPr>
              <a:t>FINAL BUILD RESULT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1737360"/>
            <a:ext cx="4846320" cy="1965960"/>
          </a:xfrm>
          <a:prstGeom prst="roundRect">
            <a:avLst>
              <a:gd name="adj" fmla="val 372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1984248"/>
            <a:ext cx="4251960" cy="148132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dbt build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Found 13 models, 36 data tests, 6 sources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Done. PASS=45  WARN=4  ERROR=0  TOTAL=49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Known warnings: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11 orphan sales-rep references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7 missing seat counts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5 orphan invoice references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FAE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• 13 invalid subscription date ranges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406908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0" y="4069080"/>
            <a:ext cx="73152" cy="1143000"/>
          </a:xfrm>
          <a:prstGeom prst="rect">
            <a:avLst/>
          </a:prstGeom>
          <a:solidFill>
            <a:srgbClr val="3CCB7F"/>
          </a:solidFill>
          <a:ln w="12700">
            <a:solidFill>
              <a:srgbClr val="3CCB7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4233672"/>
            <a:ext cx="12161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PASS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84848" y="4544568"/>
            <a:ext cx="12161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45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84848" y="4892040"/>
            <a:ext cx="12161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</a:rPr>
              <a:t>Tests passed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11312" y="406908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11312" y="4069080"/>
            <a:ext cx="73152" cy="114300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4233672"/>
            <a:ext cx="12161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WARN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544568"/>
            <a:ext cx="12161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412480" y="4892040"/>
            <a:ext cx="12161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</a:rPr>
              <a:t>Known issues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838944" y="406908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838944" y="4069080"/>
            <a:ext cx="73152" cy="1143000"/>
          </a:xfrm>
          <a:prstGeom prst="rect">
            <a:avLst/>
          </a:prstGeom>
          <a:solidFill>
            <a:srgbClr val="3CCB7F"/>
          </a:solidFill>
          <a:ln w="12700">
            <a:solidFill>
              <a:srgbClr val="3CCB7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40112" y="4233672"/>
            <a:ext cx="12161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ERROR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40112" y="4544568"/>
            <a:ext cx="12161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0040112" y="4892040"/>
            <a:ext cx="12161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A"/>
                </a:solidFill>
              </a:rPr>
              <a:t>Pipeline healthy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75120" y="557784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77A"/>
                </a:solidFill>
              </a:rPr>
              <a:t>Why warnings instead of forced fixes? The source data did not contain enough information to infer a correct value safely.</a:t>
            </a:r>
            <a:endParaRPr lang="en-US" sz="12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1 — Revenue &amp; Subscriptions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A"/>
                </a:solidFill>
              </a:rPr>
              <a:t>Answers: revenue trend, product mix, subscription health and payment quality.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38160" y="132588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697A"/>
                </a:solidFill>
              </a:rPr>
              <a:t>OBSERVED INSIGHTS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92440" y="1691640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1691640"/>
            <a:ext cx="73152" cy="786384"/>
          </a:xfrm>
          <a:prstGeom prst="rect">
            <a:avLst/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93608" y="1856232"/>
            <a:ext cx="3227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Net revenue across the full dataset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93608" y="2167128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72.8M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092440" y="2587752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92440" y="2587752"/>
            <a:ext cx="73152" cy="786384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93608" y="2752344"/>
            <a:ext cx="3227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September is the strongest revenue month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93608" y="3063240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9.9M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092440" y="3483864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92440" y="3483864"/>
            <a:ext cx="73152" cy="786384"/>
          </a:xfrm>
          <a:prstGeom prst="rect">
            <a:avLst/>
          </a:prstGeom>
          <a:solidFill>
            <a:srgbClr val="46D0E3"/>
          </a:solidFill>
          <a:ln w="12700">
            <a:solidFill>
              <a:srgbClr val="46D0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93608" y="3648456"/>
            <a:ext cx="3227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Active subscriptions (872 of 1,500)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93608" y="3959352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58.1%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092440" y="4379976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92440" y="4379976"/>
            <a:ext cx="73152" cy="786384"/>
          </a:xfrm>
          <a:prstGeom prst="rect">
            <a:avLst/>
          </a:prstGeom>
          <a:solidFill>
            <a:srgbClr val="9B7BF8"/>
          </a:solidFill>
          <a:ln w="12700">
            <a:solidFill>
              <a:srgbClr val="9B7B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93608" y="4544568"/>
            <a:ext cx="3227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DataVision is the largest product revenue contributor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93608" y="4855464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~25M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8092440" y="5349240"/>
            <a:ext cx="3520440" cy="777240"/>
          </a:xfrm>
          <a:prstGeom prst="roundRect">
            <a:avLst>
              <a:gd name="adj" fmla="val 5882"/>
            </a:avLst>
          </a:prstGeom>
          <a:solidFill>
            <a:srgbClr val="FFF7E5"/>
          </a:solidFill>
          <a:ln w="12700">
            <a:solidFill>
              <a:srgbClr val="F4D4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551383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A4E00"/>
                </a:solidFill>
              </a:rPr>
              <a:t>Action: investigate September/October seasonality, protect the leading product line, and target expired/cancelled subscriptions for renewal or win-back.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30" y="1691005"/>
            <a:ext cx="7455535" cy="43072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2 — Sales &amp; Customers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A"/>
                </a:solidFill>
              </a:rPr>
              <a:t>Answers: pipeline health, rep performance, priority accounts and geographic opportunity.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38160" y="132588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697A"/>
                </a:solidFill>
              </a:rPr>
              <a:t>OBSERVED INSIGHTS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92440" y="1691640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1691640"/>
            <a:ext cx="73152" cy="786384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93608" y="1856232"/>
            <a:ext cx="3227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Open pipeline value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93608" y="2167128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34.29M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092440" y="2587752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92440" y="2587752"/>
            <a:ext cx="73152" cy="786384"/>
          </a:xfrm>
          <a:prstGeom prst="rect">
            <a:avLst/>
          </a:prstGeom>
          <a:solidFill>
            <a:srgbClr val="9B7BF8"/>
          </a:solidFill>
          <a:ln w="12700">
            <a:solidFill>
              <a:srgbClr val="9B7B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93608" y="2752344"/>
            <a:ext cx="3227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Weighted pipeline — ~91% of open pipeline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93608" y="3063240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31.19M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092440" y="3483864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92440" y="3483864"/>
            <a:ext cx="73152" cy="786384"/>
          </a:xfrm>
          <a:prstGeom prst="rect">
            <a:avLst/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93608" y="3648456"/>
            <a:ext cx="3227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Overall win rate with 564 won deals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93608" y="3959352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65.66%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092440" y="4379976"/>
            <a:ext cx="3520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92440" y="4379976"/>
            <a:ext cx="73152" cy="786384"/>
          </a:xfrm>
          <a:prstGeom prst="rect">
            <a:avLst/>
          </a:prstGeom>
          <a:solidFill>
            <a:srgbClr val="46D0E3"/>
          </a:solidFill>
          <a:ln w="12700">
            <a:solidFill>
              <a:srgbClr val="46D0E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93608" y="4544568"/>
            <a:ext cx="3227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77A"/>
                </a:solidFill>
              </a:rPr>
              <a:t>United States, Netherlands and United Kingdom lead open pipeline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93608" y="4855464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</a:rPr>
              <a:t>Top 3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8092440" y="5349240"/>
            <a:ext cx="3520440" cy="777240"/>
          </a:xfrm>
          <a:prstGeom prst="roundRect">
            <a:avLst>
              <a:gd name="adj" fmla="val 5882"/>
            </a:avLst>
          </a:prstGeom>
          <a:solidFill>
            <a:srgbClr val="EAF7FA"/>
          </a:solidFill>
          <a:ln w="12700">
            <a:solidFill>
              <a:srgbClr val="BEE7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5513832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697A"/>
                </a:solidFill>
              </a:rPr>
              <a:t>Action: coach high-pipeline/low-win reps, feed more leads to high-conversion reps, and focus account plans on the largest open opportunities.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590" y="1674495"/>
            <a:ext cx="7688580" cy="4446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answers → management actions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A"/>
                </a:solidFill>
              </a:rPr>
              <a:t>The value is not the chart; it is the decision the chart supports.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3246120" cy="502920"/>
          </a:xfrm>
          <a:prstGeom prst="roundRect">
            <a:avLst>
              <a:gd name="adj" fmla="val 7273"/>
            </a:avLst>
          </a:prstGeom>
          <a:solidFill>
            <a:srgbClr val="DDECF0"/>
          </a:solidFill>
          <a:ln w="12700">
            <a:solidFill>
              <a:srgbClr val="DD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36192"/>
            <a:ext cx="30266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Business question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0" y="1389888"/>
            <a:ext cx="3520440" cy="502920"/>
          </a:xfrm>
          <a:prstGeom prst="roundRect">
            <a:avLst>
              <a:gd name="adj" fmla="val 7273"/>
            </a:avLst>
          </a:prstGeom>
          <a:solidFill>
            <a:srgbClr val="DDECF0"/>
          </a:solidFill>
          <a:ln w="12700">
            <a:solidFill>
              <a:srgbClr val="DD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33088" y="1536192"/>
            <a:ext cx="33009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What the analysis shows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1389888"/>
            <a:ext cx="3794760" cy="502920"/>
          </a:xfrm>
          <a:prstGeom prst="roundRect">
            <a:avLst>
              <a:gd name="adj" fmla="val 7273"/>
            </a:avLst>
          </a:prstGeom>
          <a:solidFill>
            <a:srgbClr val="16697A"/>
          </a:solidFill>
          <a:ln w="12700">
            <a:solidFill>
              <a:srgbClr val="1669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7848" y="1536192"/>
            <a:ext cx="3575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Recommended 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3246120" cy="786384"/>
          </a:xfrm>
          <a:prstGeom prst="rect">
            <a:avLst/>
          </a:prstGeom>
          <a:solidFill>
            <a:srgbClr val="F8FAFC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2029968"/>
            <a:ext cx="3520440" cy="786384"/>
          </a:xfrm>
          <a:prstGeom prst="rect">
            <a:avLst/>
          </a:prstGeom>
          <a:solidFill>
            <a:srgbClr val="F8FAFC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2029968"/>
            <a:ext cx="3794760" cy="786384"/>
          </a:xfrm>
          <a:prstGeom prst="rect">
            <a:avLst/>
          </a:prstGeom>
          <a:solidFill>
            <a:srgbClr val="F8FAFC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39696"/>
            <a:ext cx="30083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Where is revenue strongest?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42232" y="2121408"/>
            <a:ext cx="328269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September peaks at ~9.9M; DataVision leads product revenue.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36992" y="2121408"/>
            <a:ext cx="35570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697A"/>
                </a:solidFill>
              </a:rPr>
              <a:t>Investigate timing drivers; protect the strongest product while diversifying mix.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816352"/>
            <a:ext cx="32461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816352"/>
            <a:ext cx="35204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2816352"/>
            <a:ext cx="379476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926080"/>
            <a:ext cx="30083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Is the subscription base healthy?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2232" y="2907792"/>
            <a:ext cx="328269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872 active; 345 expired; 177 cancelled; 98 trial.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936992" y="2907792"/>
            <a:ext cx="35570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697A"/>
                </a:solidFill>
              </a:rPr>
              <a:t>Prioritise renewal / reactivation campaigns and trial conversion.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602736"/>
            <a:ext cx="3246120" cy="786384"/>
          </a:xfrm>
          <a:prstGeom prst="rect">
            <a:avLst/>
          </a:prstGeom>
          <a:solidFill>
            <a:srgbClr val="F8FAFC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0" y="3602736"/>
            <a:ext cx="3520440" cy="786384"/>
          </a:xfrm>
          <a:prstGeom prst="rect">
            <a:avLst/>
          </a:prstGeom>
          <a:solidFill>
            <a:srgbClr val="F8FAFC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3602736"/>
            <a:ext cx="3794760" cy="786384"/>
          </a:xfrm>
          <a:prstGeom prst="rect">
            <a:avLst/>
          </a:prstGeom>
          <a:solidFill>
            <a:srgbClr val="F8FAFC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712464"/>
            <a:ext cx="30083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How healthy is pipeline?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42232" y="3694176"/>
            <a:ext cx="328269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34.29M open, 31.19M weighted, 65.66% win rate.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36992" y="3694176"/>
            <a:ext cx="35570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697A"/>
                </a:solidFill>
              </a:rPr>
              <a:t>Prioritise late-stage deals and protect forecast quality.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389120"/>
            <a:ext cx="324612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0" y="4389120"/>
            <a:ext cx="35204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4389120"/>
            <a:ext cx="379476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498848"/>
            <a:ext cx="30083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Where should sales focus?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42232" y="4480560"/>
            <a:ext cx="328269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US, Netherlands and UK lead open pipeline; rep performance varies widely.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36992" y="4480560"/>
            <a:ext cx="35570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697A"/>
                </a:solidFill>
              </a:rPr>
              <a:t>Coach low-conversion reps and reallocate leads toward high-conversion capacity.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5175504"/>
            <a:ext cx="3246120" cy="786384"/>
          </a:xfrm>
          <a:prstGeom prst="rect">
            <a:avLst/>
          </a:prstGeom>
          <a:solidFill>
            <a:srgbClr val="F8FAFC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0" y="5175504"/>
            <a:ext cx="3520440" cy="786384"/>
          </a:xfrm>
          <a:prstGeom prst="rect">
            <a:avLst/>
          </a:prstGeom>
          <a:solidFill>
            <a:srgbClr val="F8FAFC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5175504"/>
            <a:ext cx="3794760" cy="786384"/>
          </a:xfrm>
          <a:prstGeom prst="rect">
            <a:avLst/>
          </a:prstGeom>
          <a:solidFill>
            <a:srgbClr val="F8FAFC"/>
          </a:solidFill>
          <a:ln w="10160">
            <a:solidFill>
              <a:srgbClr val="DDE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5285232"/>
            <a:ext cx="30083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Can the data be trusted?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42232" y="5266944"/>
            <a:ext cx="328269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45 tests passed, 4 known warnings, 0 errors.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936992" y="5266944"/>
            <a:ext cx="35570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6697A"/>
                </a:solidFill>
              </a:rPr>
              <a:t>Keep warnings visible; fix source-system quality rather than guessing corrections.</a:t>
            </a:r>
            <a:endParaRPr lang="en-US" sz="11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GitHub-ready project structure &amp; reproducibility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A"/>
                </a:solidFill>
              </a:rPr>
              <a:t>Make the portfolio easy to understand, rerun and review.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697A"/>
                </a:solidFill>
              </a:rPr>
              <a:t>RECOMMENDED REPOSITORY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4983480" cy="4114800"/>
          </a:xfrm>
          <a:prstGeom prst="roundRect">
            <a:avLst>
              <a:gd name="adj" fmla="val 1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56816"/>
            <a:ext cx="4480560" cy="35204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software-license-sales-analytics/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data/raw/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src/ingest_data.py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license_sales_dbt/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models/staging/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├── models/marts/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tests/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powerbi/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software_license_sales_dashboard.pbix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docs/images/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presentation/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│   └── software_license_sales_project_presentation.pptx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├── README.md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└── .gitignore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89320" y="132588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6697A"/>
                </a:solidFill>
              </a:rPr>
              <a:t>RUNBOOK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89320" y="1737360"/>
            <a:ext cx="5303520" cy="2514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1. Create PostgreSQL database and credentials in local .env (never commit secrets).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2. Run Python ingestion to load CSVs into raw schema.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3. Run dbt build to create staging + marts and execute tests.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4. Open the PBIX and refresh the PostgreSQL connection.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</a:rPr>
              <a:t>5. Review the two dashboard pages and documented recommendations.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89320" y="4617720"/>
            <a:ext cx="5257800" cy="1188720"/>
          </a:xfrm>
          <a:prstGeom prst="roundRect">
            <a:avLst>
              <a:gd name="adj" fmla="val 4615"/>
            </a:avLst>
          </a:prstGeom>
          <a:solidFill>
            <a:srgbClr val="EAF7FA"/>
          </a:solidFill>
          <a:ln w="12700">
            <a:solidFill>
              <a:srgbClr val="BE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4828032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97A"/>
                </a:solidFill>
              </a:rPr>
              <a:t>Portfolio signal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0" y="4736592"/>
            <a:ext cx="3429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</a:rPr>
              <a:t>This project demonstrates SQL, Python, PostgreSQL, dbt testing, dimensional modelling, DAX, Power BI design and business storytelling in one reproducible workflow.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5738</Words>
  <Application>WPS Presentation</Application>
  <PresentationFormat>On-screen Show (16:9)</PresentationFormat>
  <Paragraphs>318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SimSun</vt:lpstr>
      <vt:lpstr>Wingdings</vt:lpstr>
      <vt:lpstr>Aptos</vt:lpstr>
      <vt:lpstr>Segoe UI</vt:lpstr>
      <vt:lpstr>Aptos</vt:lpstr>
      <vt:lpstr>Aptos</vt:lpstr>
      <vt:lpstr>Aptos</vt:lpstr>
      <vt:lpstr>Aptos Display</vt:lpstr>
      <vt:lpstr>Segoe UI Variable Display</vt:lpstr>
      <vt:lpstr>Aptos Display</vt:lpstr>
      <vt:lpstr>Aptos Display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Portfolio Project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License Sales Analytics</dc:title>
  <dc:creator>OpenAI</dc:creator>
  <dc:subject>Software License Sales Analytics portfolio project</dc:subject>
  <cp:lastModifiedBy>HF</cp:lastModifiedBy>
  <cp:revision>4</cp:revision>
  <dcterms:created xsi:type="dcterms:W3CDTF">2026-10-09T17:57:00Z</dcterms:created>
  <dcterms:modified xsi:type="dcterms:W3CDTF">2026-10-09T18:11:40Z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FF0578F1DD3D45AA9D6E7896951FA619_12</vt:lpwstr>
  </property>
  <property fmtid="{D5CDD505-2E9C-101B-9397-08002B2CF9AE}" pid="3" name="KSOProductBuildVer">
    <vt:lpwstr>1033-12.1.0.28485</vt:lpwstr>
  </property>
</Properties>
</file>